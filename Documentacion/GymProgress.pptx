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420E91-D7A0-4588-84A3-558E9C7F96C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417911-D3DF-4A11-961E-7D5DB45A200E}">
      <dgm:prSet/>
      <dgm:spPr/>
      <dgm:t>
        <a:bodyPr/>
        <a:lstStyle/>
        <a:p>
          <a:r>
            <a:rPr lang="es-ES"/>
            <a:t>Entrenadores personales</a:t>
          </a:r>
          <a:endParaRPr lang="en-US"/>
        </a:p>
      </dgm:t>
    </dgm:pt>
    <dgm:pt modelId="{7F04CB3C-2EBD-4410-ADB2-A856B11D38B6}" type="parTrans" cxnId="{4EAE6D6C-CB06-4999-B499-5273F745B428}">
      <dgm:prSet/>
      <dgm:spPr/>
      <dgm:t>
        <a:bodyPr/>
        <a:lstStyle/>
        <a:p>
          <a:endParaRPr lang="en-US"/>
        </a:p>
      </dgm:t>
    </dgm:pt>
    <dgm:pt modelId="{64FDD842-E816-4097-8D10-C7AE9667E945}" type="sibTrans" cxnId="{4EAE6D6C-CB06-4999-B499-5273F745B428}">
      <dgm:prSet/>
      <dgm:spPr/>
      <dgm:t>
        <a:bodyPr/>
        <a:lstStyle/>
        <a:p>
          <a:endParaRPr lang="en-US"/>
        </a:p>
      </dgm:t>
    </dgm:pt>
    <dgm:pt modelId="{40D154E5-0490-4679-8440-495AA42DE10A}">
      <dgm:prSet/>
      <dgm:spPr/>
      <dgm:t>
        <a:bodyPr/>
        <a:lstStyle/>
        <a:p>
          <a:r>
            <a:rPr lang="es-ES"/>
            <a:t>Base de datos local</a:t>
          </a:r>
          <a:endParaRPr lang="en-US"/>
        </a:p>
      </dgm:t>
    </dgm:pt>
    <dgm:pt modelId="{44F90140-8536-4085-B60F-0C3DB11AC542}" type="parTrans" cxnId="{72BBD620-F530-4515-A927-9F5D26E71F1A}">
      <dgm:prSet/>
      <dgm:spPr/>
      <dgm:t>
        <a:bodyPr/>
        <a:lstStyle/>
        <a:p>
          <a:endParaRPr lang="en-US"/>
        </a:p>
      </dgm:t>
    </dgm:pt>
    <dgm:pt modelId="{BC661555-AA69-46F3-BE9F-BD6D835D13DC}" type="sibTrans" cxnId="{72BBD620-F530-4515-A927-9F5D26E71F1A}">
      <dgm:prSet/>
      <dgm:spPr/>
      <dgm:t>
        <a:bodyPr/>
        <a:lstStyle/>
        <a:p>
          <a:endParaRPr lang="en-US"/>
        </a:p>
      </dgm:t>
    </dgm:pt>
    <dgm:pt modelId="{19BB0F8A-7DFB-4771-A4B9-00E879AD70CF}" type="pres">
      <dgm:prSet presAssocID="{F3420E91-D7A0-4588-84A3-558E9C7F96C2}" presName="root" presStyleCnt="0">
        <dgm:presLayoutVars>
          <dgm:dir/>
          <dgm:resizeHandles val="exact"/>
        </dgm:presLayoutVars>
      </dgm:prSet>
      <dgm:spPr/>
    </dgm:pt>
    <dgm:pt modelId="{5B758DF7-27F8-45F1-9850-F4596D98EBAC}" type="pres">
      <dgm:prSet presAssocID="{11417911-D3DF-4A11-961E-7D5DB45A200E}" presName="compNode" presStyleCnt="0"/>
      <dgm:spPr/>
    </dgm:pt>
    <dgm:pt modelId="{71600497-044E-431B-833E-0579C3A9C398}" type="pres">
      <dgm:prSet presAssocID="{11417911-D3DF-4A11-961E-7D5DB45A200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65B1D51B-3CFA-4DB9-B8FC-1C2229335628}" type="pres">
      <dgm:prSet presAssocID="{11417911-D3DF-4A11-961E-7D5DB45A200E}" presName="spaceRect" presStyleCnt="0"/>
      <dgm:spPr/>
    </dgm:pt>
    <dgm:pt modelId="{F97D6C6A-4F9B-48AB-B5CF-B62D635A6F4F}" type="pres">
      <dgm:prSet presAssocID="{11417911-D3DF-4A11-961E-7D5DB45A200E}" presName="textRect" presStyleLbl="revTx" presStyleIdx="0" presStyleCnt="2">
        <dgm:presLayoutVars>
          <dgm:chMax val="1"/>
          <dgm:chPref val="1"/>
        </dgm:presLayoutVars>
      </dgm:prSet>
      <dgm:spPr/>
    </dgm:pt>
    <dgm:pt modelId="{7161F226-C14F-4D7F-9616-4C8F24743926}" type="pres">
      <dgm:prSet presAssocID="{64FDD842-E816-4097-8D10-C7AE9667E945}" presName="sibTrans" presStyleCnt="0"/>
      <dgm:spPr/>
    </dgm:pt>
    <dgm:pt modelId="{7A0ECC3C-371C-4570-8D45-5B1F4491564E}" type="pres">
      <dgm:prSet presAssocID="{40D154E5-0490-4679-8440-495AA42DE10A}" presName="compNode" presStyleCnt="0"/>
      <dgm:spPr/>
    </dgm:pt>
    <dgm:pt modelId="{EEA606A5-49C8-4AE0-91A4-4F79A937B0A3}" type="pres">
      <dgm:prSet presAssocID="{40D154E5-0490-4679-8440-495AA42DE1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44B91E76-D0BD-4B80-A919-138BC6C190CD}" type="pres">
      <dgm:prSet presAssocID="{40D154E5-0490-4679-8440-495AA42DE10A}" presName="spaceRect" presStyleCnt="0"/>
      <dgm:spPr/>
    </dgm:pt>
    <dgm:pt modelId="{A8C089AE-A59C-44A8-B373-18DA7A6D7C27}" type="pres">
      <dgm:prSet presAssocID="{40D154E5-0490-4679-8440-495AA42DE1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39F700E-C2DA-485A-98E6-CC438BEDC1DE}" type="presOf" srcId="{40D154E5-0490-4679-8440-495AA42DE10A}" destId="{A8C089AE-A59C-44A8-B373-18DA7A6D7C27}" srcOrd="0" destOrd="0" presId="urn:microsoft.com/office/officeart/2018/2/layout/IconLabelList"/>
    <dgm:cxn modelId="{72BBD620-F530-4515-A927-9F5D26E71F1A}" srcId="{F3420E91-D7A0-4588-84A3-558E9C7F96C2}" destId="{40D154E5-0490-4679-8440-495AA42DE10A}" srcOrd="1" destOrd="0" parTransId="{44F90140-8536-4085-B60F-0C3DB11AC542}" sibTransId="{BC661555-AA69-46F3-BE9F-BD6D835D13DC}"/>
    <dgm:cxn modelId="{4EAE6D6C-CB06-4999-B499-5273F745B428}" srcId="{F3420E91-D7A0-4588-84A3-558E9C7F96C2}" destId="{11417911-D3DF-4A11-961E-7D5DB45A200E}" srcOrd="0" destOrd="0" parTransId="{7F04CB3C-2EBD-4410-ADB2-A856B11D38B6}" sibTransId="{64FDD842-E816-4097-8D10-C7AE9667E945}"/>
    <dgm:cxn modelId="{5DC49590-8D83-4C9A-8B18-3E6BD665C077}" type="presOf" srcId="{F3420E91-D7A0-4588-84A3-558E9C7F96C2}" destId="{19BB0F8A-7DFB-4771-A4B9-00E879AD70CF}" srcOrd="0" destOrd="0" presId="urn:microsoft.com/office/officeart/2018/2/layout/IconLabelList"/>
    <dgm:cxn modelId="{EE5548CF-D961-444A-BACD-FF4178A46207}" type="presOf" srcId="{11417911-D3DF-4A11-961E-7D5DB45A200E}" destId="{F97D6C6A-4F9B-48AB-B5CF-B62D635A6F4F}" srcOrd="0" destOrd="0" presId="urn:microsoft.com/office/officeart/2018/2/layout/IconLabelList"/>
    <dgm:cxn modelId="{3C18489D-5FCC-4FDB-A2CD-6D9E221DE376}" type="presParOf" srcId="{19BB0F8A-7DFB-4771-A4B9-00E879AD70CF}" destId="{5B758DF7-27F8-45F1-9850-F4596D98EBAC}" srcOrd="0" destOrd="0" presId="urn:microsoft.com/office/officeart/2018/2/layout/IconLabelList"/>
    <dgm:cxn modelId="{4690D762-C803-4D52-80DD-05B22FBCB3DF}" type="presParOf" srcId="{5B758DF7-27F8-45F1-9850-F4596D98EBAC}" destId="{71600497-044E-431B-833E-0579C3A9C398}" srcOrd="0" destOrd="0" presId="urn:microsoft.com/office/officeart/2018/2/layout/IconLabelList"/>
    <dgm:cxn modelId="{26661577-265C-445A-826E-C2FF39286081}" type="presParOf" srcId="{5B758DF7-27F8-45F1-9850-F4596D98EBAC}" destId="{65B1D51B-3CFA-4DB9-B8FC-1C2229335628}" srcOrd="1" destOrd="0" presId="urn:microsoft.com/office/officeart/2018/2/layout/IconLabelList"/>
    <dgm:cxn modelId="{57E5C8B8-FC22-4093-8560-33CA8DE42841}" type="presParOf" srcId="{5B758DF7-27F8-45F1-9850-F4596D98EBAC}" destId="{F97D6C6A-4F9B-48AB-B5CF-B62D635A6F4F}" srcOrd="2" destOrd="0" presId="urn:microsoft.com/office/officeart/2018/2/layout/IconLabelList"/>
    <dgm:cxn modelId="{1B9D292D-0AF6-4707-B677-0020DC965246}" type="presParOf" srcId="{19BB0F8A-7DFB-4771-A4B9-00E879AD70CF}" destId="{7161F226-C14F-4D7F-9616-4C8F24743926}" srcOrd="1" destOrd="0" presId="urn:microsoft.com/office/officeart/2018/2/layout/IconLabelList"/>
    <dgm:cxn modelId="{D0463F80-FD31-4949-A824-9A4F7D714C3A}" type="presParOf" srcId="{19BB0F8A-7DFB-4771-A4B9-00E879AD70CF}" destId="{7A0ECC3C-371C-4570-8D45-5B1F4491564E}" srcOrd="2" destOrd="0" presId="urn:microsoft.com/office/officeart/2018/2/layout/IconLabelList"/>
    <dgm:cxn modelId="{C3B2846E-354C-42E3-B9C8-85EDD32192CD}" type="presParOf" srcId="{7A0ECC3C-371C-4570-8D45-5B1F4491564E}" destId="{EEA606A5-49C8-4AE0-91A4-4F79A937B0A3}" srcOrd="0" destOrd="0" presId="urn:microsoft.com/office/officeart/2018/2/layout/IconLabelList"/>
    <dgm:cxn modelId="{8F1533D0-9254-406A-B451-6027B1A48AF4}" type="presParOf" srcId="{7A0ECC3C-371C-4570-8D45-5B1F4491564E}" destId="{44B91E76-D0BD-4B80-A919-138BC6C190CD}" srcOrd="1" destOrd="0" presId="urn:microsoft.com/office/officeart/2018/2/layout/IconLabelList"/>
    <dgm:cxn modelId="{E6E66D8A-7C01-48B7-A9CE-3A9FEADD2F5F}" type="presParOf" srcId="{7A0ECC3C-371C-4570-8D45-5B1F4491564E}" destId="{A8C089AE-A59C-44A8-B373-18DA7A6D7C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00497-044E-431B-833E-0579C3A9C398}">
      <dsp:nvSpPr>
        <dsp:cNvPr id="0" name=""/>
        <dsp:cNvSpPr/>
      </dsp:nvSpPr>
      <dsp:spPr>
        <a:xfrm>
          <a:off x="1290599" y="72537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D6C6A-4F9B-48AB-B5CF-B62D635A6F4F}">
      <dsp:nvSpPr>
        <dsp:cNvPr id="0" name=""/>
        <dsp:cNvSpPr/>
      </dsp:nvSpPr>
      <dsp:spPr>
        <a:xfrm>
          <a:off x="102599" y="248693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Entrenadores personales</a:t>
          </a:r>
          <a:endParaRPr lang="en-US" sz="3000" kern="1200"/>
        </a:p>
      </dsp:txBody>
      <dsp:txXfrm>
        <a:off x="102599" y="2486937"/>
        <a:ext cx="4320000" cy="720000"/>
      </dsp:txXfrm>
    </dsp:sp>
    <dsp:sp modelId="{EEA606A5-49C8-4AE0-91A4-4F79A937B0A3}">
      <dsp:nvSpPr>
        <dsp:cNvPr id="0" name=""/>
        <dsp:cNvSpPr/>
      </dsp:nvSpPr>
      <dsp:spPr>
        <a:xfrm>
          <a:off x="6366600" y="72537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089AE-A59C-44A8-B373-18DA7A6D7C27}">
      <dsp:nvSpPr>
        <dsp:cNvPr id="0" name=""/>
        <dsp:cNvSpPr/>
      </dsp:nvSpPr>
      <dsp:spPr>
        <a:xfrm>
          <a:off x="5178600" y="248693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Base de datos local</a:t>
          </a:r>
          <a:endParaRPr lang="en-US" sz="3000" kern="1200"/>
        </a:p>
      </dsp:txBody>
      <dsp:txXfrm>
        <a:off x="5178600" y="2486937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0094E-15F9-4628-96A1-11E8D4FD3518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BC0CA-691D-4B31-8B9B-D2F6D7A9EE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100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BC0CA-691D-4B31-8B9B-D2F6D7A9EE0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47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014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8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7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32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3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5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4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59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8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9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hibernate.org/orm/documentation/" TargetMode="External"/><Relationship Id="rId3" Type="http://schemas.openxmlformats.org/officeDocument/2006/relationships/hyperlink" Target="https://kotlinlang.org/docs/home.html" TargetMode="External"/><Relationship Id="rId7" Type="http://schemas.openxmlformats.org/officeDocument/2006/relationships/hyperlink" Target="https://docs.oracle.com/en/java/" TargetMode="External"/><Relationship Id="rId2" Type="http://schemas.openxmlformats.org/officeDocument/2006/relationships/hyperlink" Target="https://developer.android.com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pring.io/spring-boot/docs/current/reference/html/" TargetMode="External"/><Relationship Id="rId11" Type="http://schemas.openxmlformats.org/officeDocument/2006/relationships/hyperlink" Target="https://developer.android.com/training/data-storage/room" TargetMode="External"/><Relationship Id="rId5" Type="http://schemas.openxmlformats.org/officeDocument/2006/relationships/hyperlink" Target="https://square.github.io/retrofit/" TargetMode="External"/><Relationship Id="rId10" Type="http://schemas.openxmlformats.org/officeDocument/2006/relationships/hyperlink" Target="https://dev.mysql.com/doc/refman/en/" TargetMode="External"/><Relationship Id="rId4" Type="http://schemas.openxmlformats.org/officeDocument/2006/relationships/hyperlink" Target="https://m3.material.io/" TargetMode="External"/><Relationship Id="rId9" Type="http://schemas.openxmlformats.org/officeDocument/2006/relationships/hyperlink" Target="https://jwt.io/introductio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B4F054-9370-BF0F-6C83-509418136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6968" y="1995887"/>
            <a:ext cx="3665507" cy="2037951"/>
          </a:xfrm>
        </p:spPr>
        <p:txBody>
          <a:bodyPr anchor="ctr">
            <a:normAutofit/>
          </a:bodyPr>
          <a:lstStyle/>
          <a:p>
            <a:r>
              <a:rPr lang="es-ES" err="1"/>
              <a:t>Gymprogess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042A48-AA9C-4AFA-3341-CDD030583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01" y="4413956"/>
            <a:ext cx="3119010" cy="1013687"/>
          </a:xfrm>
        </p:spPr>
        <p:txBody>
          <a:bodyPr anchor="b">
            <a:normAutofit/>
          </a:bodyPr>
          <a:lstStyle/>
          <a:p>
            <a:r>
              <a:rPr lang="es-ES"/>
              <a:t>Millán Merino Martínez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EE55D7-DA66-594F-F327-24B0ACA58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320013"/>
            <a:ext cx="5143499" cy="421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3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54246F-8623-7F3F-7EFA-15A14DAF0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9B5A01-2C53-6EBD-4FB0-926664BA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53965"/>
            <a:ext cx="4394103" cy="1778906"/>
          </a:xfrm>
        </p:spPr>
        <p:txBody>
          <a:bodyPr>
            <a:normAutofit/>
          </a:bodyPr>
          <a:lstStyle/>
          <a:p>
            <a:r>
              <a:rPr lang="es-ES"/>
              <a:t>gymprogress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9B397C-D2DF-C154-1FD3-13C5D4F3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890882"/>
            <a:ext cx="4394103" cy="300938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 b="1" err="1"/>
              <a:t>GymProgress</a:t>
            </a:r>
            <a:r>
              <a:rPr lang="es-ES" sz="1400"/>
              <a:t> es una aplicación móvil integral diseñada para la gestión y el seguimiento del entrenamiento físico. Sus pilares fundamentales son:</a:t>
            </a:r>
          </a:p>
          <a:p>
            <a:pPr>
              <a:lnSpc>
                <a:spcPct val="110000"/>
              </a:lnSpc>
            </a:pPr>
            <a:r>
              <a:rPr lang="es-ES" sz="1400" b="1"/>
              <a:t>Gestión de Rutinas:</a:t>
            </a:r>
            <a:r>
              <a:rPr lang="es-ES" sz="1400"/>
              <a:t> Creación, organización y seguimiento de entrenamientos personalizados.</a:t>
            </a:r>
          </a:p>
          <a:p>
            <a:pPr>
              <a:lnSpc>
                <a:spcPct val="110000"/>
              </a:lnSpc>
            </a:pPr>
            <a:r>
              <a:rPr lang="es-ES" sz="1400" b="1"/>
              <a:t>Catálogo de Ejercicios:</a:t>
            </a:r>
            <a:r>
              <a:rPr lang="es-ES" sz="1400"/>
              <a:t> Base de datos estructurada para planificar y guiar las sesiones.</a:t>
            </a:r>
          </a:p>
          <a:p>
            <a:pPr>
              <a:lnSpc>
                <a:spcPct val="110000"/>
              </a:lnSpc>
            </a:pPr>
            <a:r>
              <a:rPr lang="es-ES" sz="1400" b="1"/>
              <a:t>Seguimiento de Evolución:</a:t>
            </a:r>
            <a:r>
              <a:rPr lang="es-ES" sz="1400"/>
              <a:t> Registro y análisis del progreso a través del control detallado de las métricas corporales del usuario.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C4BDE1-4D40-5601-7947-DB5EFE31D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5400" y="953965"/>
            <a:ext cx="4164100" cy="4951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139A5D4-47A2-797F-99FD-DCFD9E76F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357" y="1699144"/>
            <a:ext cx="4119473" cy="345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4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64">
            <a:extLst>
              <a:ext uri="{FF2B5EF4-FFF2-40B4-BE49-F238E27FC236}">
                <a16:creationId xmlns:a16="http://schemas.microsoft.com/office/drawing/2014/main" id="{8D8F4612-40F1-5EFC-5793-DAB54E2C0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334C49-57B3-DEA1-7233-EF9E56A6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1" y="939887"/>
            <a:ext cx="4308034" cy="1796758"/>
          </a:xfrm>
          <a:noFill/>
        </p:spPr>
        <p:txBody>
          <a:bodyPr>
            <a:normAutofit/>
          </a:bodyPr>
          <a:lstStyle/>
          <a:p>
            <a:r>
              <a:rPr lang="es-ES" dirty="0"/>
              <a:t>Herramientas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BEAB20-C193-DB42-61D0-F13FE5E0B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1" y="2886892"/>
            <a:ext cx="4308033" cy="3018609"/>
          </a:xfrm>
        </p:spPr>
        <p:txBody>
          <a:bodyPr>
            <a:normAutofit/>
          </a:bodyPr>
          <a:lstStyle/>
          <a:p>
            <a:r>
              <a:rPr lang="es-ES" dirty="0"/>
              <a:t>IntelliJ IDEA</a:t>
            </a:r>
          </a:p>
          <a:p>
            <a:r>
              <a:rPr lang="es-ES" dirty="0" err="1"/>
              <a:t>Hibernate</a:t>
            </a:r>
            <a:r>
              <a:rPr lang="es-ES" dirty="0"/>
              <a:t> </a:t>
            </a:r>
          </a:p>
          <a:p>
            <a:r>
              <a:rPr lang="es-ES" dirty="0" err="1"/>
              <a:t>Springboot</a:t>
            </a:r>
            <a:endParaRPr lang="es-ES" dirty="0"/>
          </a:p>
          <a:p>
            <a:r>
              <a:rPr lang="es-ES" dirty="0"/>
              <a:t>Android </a:t>
            </a:r>
            <a:r>
              <a:rPr lang="es-ES" dirty="0" err="1"/>
              <a:t>studio</a:t>
            </a:r>
            <a:endParaRPr lang="es-ES" dirty="0"/>
          </a:p>
          <a:p>
            <a:r>
              <a:rPr lang="es-ES" dirty="0" err="1"/>
              <a:t>Retrofit</a:t>
            </a:r>
            <a:endParaRPr lang="es-ES" dirty="0"/>
          </a:p>
        </p:txBody>
      </p:sp>
      <p:sp>
        <p:nvSpPr>
          <p:cNvPr id="2073" name="Rectangle 2066">
            <a:extLst>
              <a:ext uri="{FF2B5EF4-FFF2-40B4-BE49-F238E27FC236}">
                <a16:creationId xmlns:a16="http://schemas.microsoft.com/office/drawing/2014/main" id="{21856D11-0CC2-F7F5-8072-79F97F59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1467" y="952500"/>
            <a:ext cx="4300527" cy="495300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6" descr="Intellij IDEA Logo">
            <a:extLst>
              <a:ext uri="{FF2B5EF4-FFF2-40B4-BE49-F238E27FC236}">
                <a16:creationId xmlns:a16="http://schemas.microsoft.com/office/drawing/2014/main" id="{3504E741-8300-922A-BA01-77389086F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1915" y="1737710"/>
            <a:ext cx="1571915" cy="157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ndroid Studio Logo">
            <a:extLst>
              <a:ext uri="{FF2B5EF4-FFF2-40B4-BE49-F238E27FC236}">
                <a16:creationId xmlns:a16="http://schemas.microsoft.com/office/drawing/2014/main" id="{4AA0839E-8DBC-7EF8-07DB-3E72FB76F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6521" y="1737710"/>
            <a:ext cx="1571915" cy="157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Logo de Spring Boot">
            <a:extLst>
              <a:ext uri="{FF2B5EF4-FFF2-40B4-BE49-F238E27FC236}">
                <a16:creationId xmlns:a16="http://schemas.microsoft.com/office/drawing/2014/main" id="{9ED1C482-C4AC-4AC0-ABC3-4992AA978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0573" y="3544906"/>
            <a:ext cx="1571915" cy="157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ibernate logo Icon">
            <a:extLst>
              <a:ext uri="{FF2B5EF4-FFF2-40B4-BE49-F238E27FC236}">
                <a16:creationId xmlns:a16="http://schemas.microsoft.com/office/drawing/2014/main" id="{7DAC0D97-573B-83DE-ADA5-6D46783B8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5200" y="3544907"/>
            <a:ext cx="2026639" cy="101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22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654246F-8623-7F3F-7EFA-15A14DAF0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B34E4A-0C74-2946-6C2B-5343D5ED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57739"/>
            <a:ext cx="4394103" cy="177890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sz="2400"/>
              <a:t>Herramientas hardware.</a:t>
            </a:r>
            <a:br>
              <a:rPr lang="es-ES" sz="2400"/>
            </a:br>
            <a:br>
              <a:rPr lang="es-ES" sz="2400"/>
            </a:br>
            <a:endParaRPr lang="es-ES" sz="24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0E04D-582D-5C9E-7748-57B6C1BE9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890882"/>
            <a:ext cx="4394103" cy="3009381"/>
          </a:xfrm>
        </p:spPr>
        <p:txBody>
          <a:bodyPr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Ryzen 7 7700X</a:t>
            </a:r>
            <a:endParaRPr lang="es-E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Nvidia</a:t>
            </a:r>
            <a:r>
              <a:rPr lang="es-E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4070</a:t>
            </a:r>
            <a:endParaRPr lang="es-E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32 GB RAM</a:t>
            </a: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SSD M.2 2TB</a:t>
            </a:r>
          </a:p>
          <a:p>
            <a:endParaRPr lang="es-E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AC4BDE1-4D40-5601-7947-DB5EFE31D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5400" y="953965"/>
            <a:ext cx="4164100" cy="4951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equisitos del sistema y del hardware">
            <a:extLst>
              <a:ext uri="{FF2B5EF4-FFF2-40B4-BE49-F238E27FC236}">
                <a16:creationId xmlns:a16="http://schemas.microsoft.com/office/drawing/2014/main" id="{B5AFD3F1-5DE2-BC45-A660-20B5C8CDD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5593" y="1799912"/>
            <a:ext cx="4344237" cy="325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97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9C7C71-2DFF-9BC1-34BF-75C3B2D1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68" y="1995887"/>
            <a:ext cx="3665507" cy="2037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spc="530"/>
              <a:t>Arquitectura</a:t>
            </a:r>
            <a:br>
              <a:rPr lang="en-US" sz="2700" spc="530"/>
            </a:br>
            <a:endParaRPr lang="en-US" sz="2700" spc="53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51D3333-2FC1-B858-F4CB-428C39823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3" b="-3"/>
          <a:stretch>
            <a:fillRect/>
          </a:stretch>
        </p:blipFill>
        <p:spPr>
          <a:xfrm>
            <a:off x="5293215" y="1143000"/>
            <a:ext cx="6749072" cy="457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2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493156-FFCF-F143-79ED-14420891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68" y="1995887"/>
            <a:ext cx="3665507" cy="2037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spc="530" dirty="0"/>
              <a:t>Base de </a:t>
            </a:r>
            <a:r>
              <a:rPr lang="en-US" sz="3200" spc="530"/>
              <a:t>datos</a:t>
            </a:r>
            <a:endParaRPr lang="en-US" sz="3200" spc="53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3FE160E-F90E-28FE-116E-48DA1341B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1184996"/>
            <a:ext cx="5143499" cy="448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1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84C6C4E2-F013-6337-0206-AD567BC6A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D150D424-378A-5EAF-BEF3-AB85F9E3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5400" y="952500"/>
            <a:ext cx="9601200" cy="4953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769301-7451-922F-133E-A7A1C114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49" y="1295400"/>
            <a:ext cx="5621717" cy="1591491"/>
          </a:xfrm>
        </p:spPr>
        <p:txBody>
          <a:bodyPr>
            <a:normAutofit/>
          </a:bodyPr>
          <a:lstStyle/>
          <a:p>
            <a:r>
              <a:rPr lang="es-ES" dirty="0"/>
              <a:t>Funcionalidades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11E2D3-A376-0B0F-A94C-91F10BAAB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112" y="3257551"/>
            <a:ext cx="4664453" cy="2096769"/>
          </a:xfrm>
        </p:spPr>
        <p:txBody>
          <a:bodyPr>
            <a:normAutofit/>
          </a:bodyPr>
          <a:lstStyle/>
          <a:p>
            <a:r>
              <a:rPr lang="es-ES" dirty="0"/>
              <a:t>Realizar Entrenamiento Libre</a:t>
            </a:r>
          </a:p>
          <a:p>
            <a:r>
              <a:rPr lang="es-ES" dirty="0"/>
              <a:t>Realizar Entrenamiento Basado en una Rutina</a:t>
            </a:r>
          </a:p>
          <a:p>
            <a:r>
              <a:rPr lang="es-ES" dirty="0"/>
              <a:t>Añadir seguimiento</a:t>
            </a:r>
          </a:p>
          <a:p>
            <a:r>
              <a:rPr lang="es-ES" dirty="0"/>
              <a:t>Añadir Objetivos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37363B-2500-E38A-4250-035C00883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410" y="1715821"/>
            <a:ext cx="1907439" cy="345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5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6866BF-907B-F3CF-1C75-682CE4654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6A0EBA-CF02-9F8F-3400-6D3324AA8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5400" y="952500"/>
            <a:ext cx="9601200" cy="12242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85FA30-8A1A-DD1B-AEA8-1548B6D5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186" y="1219200"/>
            <a:ext cx="9446293" cy="678613"/>
          </a:xfrm>
        </p:spPr>
        <p:txBody>
          <a:bodyPr anchor="ctr">
            <a:normAutofit/>
          </a:bodyPr>
          <a:lstStyle/>
          <a:p>
            <a:r>
              <a:rPr lang="es-ES" dirty="0"/>
              <a:t>Desarrollos posteriores</a:t>
            </a:r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A09D99CC-EC0D-19CA-03C8-8AE5525B5D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0205"/>
              </p:ext>
            </p:extLst>
          </p:nvPr>
        </p:nvGraphicFramePr>
        <p:xfrm>
          <a:off x="1295400" y="2687682"/>
          <a:ext cx="9601200" cy="3279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982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4AFA1-CF3F-994F-C499-0F0429E5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br>
              <a:rPr lang="es-ES" dirty="0"/>
            </a:b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8CDB0-590F-A7C8-9C4D-4630D031B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2152650"/>
            <a:ext cx="4208929" cy="2443163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Desarrollo Movil</a:t>
            </a:r>
          </a:p>
          <a:p>
            <a:r>
              <a:rPr lang="es-ES" dirty="0">
                <a:hlinkClick r:id="rId2"/>
              </a:rPr>
              <a:t>https://developer.android.com/docs</a:t>
            </a:r>
            <a:endParaRPr lang="es-ES" dirty="0"/>
          </a:p>
          <a:p>
            <a:r>
              <a:rPr lang="es-ES" dirty="0">
                <a:hlinkClick r:id="rId3"/>
              </a:rPr>
              <a:t>https://kotlinlang.org/docs/home.html</a:t>
            </a:r>
            <a:endParaRPr lang="es-ES" dirty="0"/>
          </a:p>
          <a:p>
            <a:r>
              <a:rPr lang="es-ES" dirty="0">
                <a:hlinkClick r:id="rId4"/>
              </a:rPr>
              <a:t>https://m3.material.io/</a:t>
            </a:r>
            <a:endParaRPr lang="es-ES" dirty="0"/>
          </a:p>
          <a:p>
            <a:r>
              <a:rPr lang="es-ES" dirty="0">
                <a:hlinkClick r:id="rId5"/>
              </a:rPr>
              <a:t>https://square.github.io/retrofit/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A2F8AB-8324-6FEA-144B-914C4BA59646}"/>
              </a:ext>
            </a:extLst>
          </p:cNvPr>
          <p:cNvSpPr txBox="1"/>
          <p:nvPr/>
        </p:nvSpPr>
        <p:spPr>
          <a:xfrm>
            <a:off x="6838591" y="3580150"/>
            <a:ext cx="48097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Desarrollo Servidor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6"/>
              </a:rPr>
              <a:t>https://docs.spring.io/spring-boot/docs/current/reference/html/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7"/>
              </a:rPr>
              <a:t>https://docs.oracle.com/en/java/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8"/>
              </a:rPr>
              <a:t>https://hibernate.org/orm/documentation/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9"/>
              </a:rPr>
              <a:t>https://jwt.io/introduction</a:t>
            </a:r>
            <a:endParaRPr lang="es-ES" dirty="0"/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5C32EF-4C77-4C3E-8398-2CCFE6B82433}"/>
              </a:ext>
            </a:extLst>
          </p:cNvPr>
          <p:cNvSpPr txBox="1"/>
          <p:nvPr/>
        </p:nvSpPr>
        <p:spPr>
          <a:xfrm>
            <a:off x="1295399" y="4595812"/>
            <a:ext cx="37741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Base de Datos y Almacenamiento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10"/>
              </a:rPr>
              <a:t>https://dev.mysql.com/doc/refman/en/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11"/>
              </a:rPr>
              <a:t>https://developer.android.com/training/data-storage/room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0841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8">
            <a:extLst>
              <a:ext uri="{FF2B5EF4-FFF2-40B4-BE49-F238E27FC236}">
                <a16:creationId xmlns:a16="http://schemas.microsoft.com/office/drawing/2014/main" id="{4654246F-8623-7F3F-7EFA-15A14DAF0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6B5D66-B14B-F683-439B-5E2DB699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52500"/>
            <a:ext cx="4344237" cy="1796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pc="530"/>
              <a:t>FIN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7ACB88AF-1561-5F80-2931-C64A4E116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886892"/>
            <a:ext cx="4210593" cy="3018608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C4BDE1-4D40-5601-7947-DB5EFE31D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7918" y="953965"/>
            <a:ext cx="4281582" cy="4951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6118A98-C617-33EC-6A07-387381C52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"/>
          <a:stretch>
            <a:fillRect/>
          </a:stretch>
        </p:blipFill>
        <p:spPr>
          <a:xfrm>
            <a:off x="6204745" y="1699144"/>
            <a:ext cx="4281582" cy="345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64805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68e08d-9c10-42ed-8ec9-30bcedd173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5191AFD27EC94E864B42ACD45005DE" ma:contentTypeVersion="17" ma:contentTypeDescription="Crear nuevo documento." ma:contentTypeScope="" ma:versionID="d357b142e8bd1043c24499238164f58a">
  <xsd:schema xmlns:xsd="http://www.w3.org/2001/XMLSchema" xmlns:xs="http://www.w3.org/2001/XMLSchema" xmlns:p="http://schemas.microsoft.com/office/2006/metadata/properties" xmlns:ns3="d468e08d-9c10-42ed-8ec9-30bcedd173ec" xmlns:ns4="c1cc3250-6f6e-413d-96be-26d04b2d674b" targetNamespace="http://schemas.microsoft.com/office/2006/metadata/properties" ma:root="true" ma:fieldsID="253d5879b3bc868af67a505322d65424" ns3:_="" ns4:_="">
    <xsd:import namespace="d468e08d-9c10-42ed-8ec9-30bcedd173ec"/>
    <xsd:import namespace="c1cc3250-6f6e-413d-96be-26d04b2d674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68e08d-9c10-42ed-8ec9-30bcedd173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c3250-6f6e-413d-96be-26d04b2d674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34281-4B2B-4243-BC3B-04E84E926534}">
  <ds:schemaRefs>
    <ds:schemaRef ds:uri="http://purl.org/dc/dcmitype/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c1cc3250-6f6e-413d-96be-26d04b2d674b"/>
    <ds:schemaRef ds:uri="d468e08d-9c10-42ed-8ec9-30bcedd173ec"/>
  </ds:schemaRefs>
</ds:datastoreItem>
</file>

<file path=customXml/itemProps2.xml><?xml version="1.0" encoding="utf-8"?>
<ds:datastoreItem xmlns:ds="http://schemas.openxmlformats.org/officeDocument/2006/customXml" ds:itemID="{4EEBAED1-4F83-4C83-9AB6-D347309526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9D6E09-408B-4198-ABDC-DE3CEE1578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68e08d-9c10-42ed-8ec9-30bcedd173ec"/>
    <ds:schemaRef ds:uri="c1cc3250-6f6e-413d-96be-26d04b2d67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256</Words>
  <Application>Microsoft Office PowerPoint</Application>
  <PresentationFormat>Panorámica</PresentationFormat>
  <Paragraphs>45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Goudy Old Style</vt:lpstr>
      <vt:lpstr>Symbol</vt:lpstr>
      <vt:lpstr>Univers Light</vt:lpstr>
      <vt:lpstr>PoiseVTI</vt:lpstr>
      <vt:lpstr>Gymprogess</vt:lpstr>
      <vt:lpstr>gymprogress</vt:lpstr>
      <vt:lpstr>Herramientas software</vt:lpstr>
      <vt:lpstr>Herramientas hardware.  </vt:lpstr>
      <vt:lpstr>Arquitectura </vt:lpstr>
      <vt:lpstr>Base de datos</vt:lpstr>
      <vt:lpstr>Funcionalidades</vt:lpstr>
      <vt:lpstr>Desarrollos posteriores</vt:lpstr>
      <vt:lpstr>Bibliografía  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Mueso ariski</dc:title>
  <dc:creator>MILLÁN MERINO MARTÍNEZ</dc:creator>
  <cp:lastModifiedBy>MILLÁN MERINO MARTÍNEZ</cp:lastModifiedBy>
  <cp:revision>5</cp:revision>
  <dcterms:created xsi:type="dcterms:W3CDTF">2024-05-20T07:39:59Z</dcterms:created>
  <dcterms:modified xsi:type="dcterms:W3CDTF">2026-05-25T07:10:20Z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0x010100C45191AFD27EC94E864B42ACD45005DE</vt:lpwstr>
  </property>
</Properties>
</file>